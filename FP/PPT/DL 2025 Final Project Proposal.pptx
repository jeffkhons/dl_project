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384" r:id="rId3"/>
    <p:sldId id="389" r:id="rId4"/>
    <p:sldId id="390" r:id="rId5"/>
    <p:sldId id="388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wei" initials="A" lastIdx="1" clrIdx="0">
    <p:extLst>
      <p:ext uri="{19B8F6BF-5375-455C-9EA6-DF929625EA0E}">
        <p15:presenceInfo xmlns:p15="http://schemas.microsoft.com/office/powerpoint/2012/main" userId="Awe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5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E7E47-7544-4E72-81D2-D7F0E56C4687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66232D-BC32-4AB1-B94C-75C8D6E6ED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7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952501" y="3714750"/>
            <a:ext cx="11239500" cy="1588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9" descr="Nctu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39500" y="285750"/>
            <a:ext cx="789517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85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1" y="1000109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8259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1547"/>
            <a:ext cx="10972800" cy="505461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832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165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571501" y="1500189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7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083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571501" y="1500189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9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159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接點 2"/>
          <p:cNvCxnSpPr/>
          <p:nvPr/>
        </p:nvCxnSpPr>
        <p:spPr>
          <a:xfrm>
            <a:off x="571501" y="1500189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23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75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1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376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/>
          <p:cNvCxnSpPr/>
          <p:nvPr/>
        </p:nvCxnSpPr>
        <p:spPr>
          <a:xfrm>
            <a:off x="571501" y="1500189"/>
            <a:ext cx="11620500" cy="1587"/>
          </a:xfrm>
          <a:prstGeom prst="line">
            <a:avLst/>
          </a:prstGeom>
          <a:ln w="12700" cmpd="sng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805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27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D27C335E-1A33-45FF-878D-38EC74BEC67D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B83E9035-917A-44B7-A544-65036D6D367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214290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extrusionH="57150">
              <a:bevelT w="57150" h="38100" prst="hardEdge"/>
            </a:sp3d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i="0" dirty="0">
                <a:ln w="12700">
                  <a:noFill/>
                  <a:prstDash val="solid"/>
                </a:ln>
                <a:solidFill>
                  <a:schemeClr val="accent5">
                    <a:lumMod val="50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  <a:reflection blurRad="6350" stA="60000" endA="900" endPos="58000" dir="5400000" sy="-100000" algn="bl" rotWithShape="0"/>
                </a:effectLst>
              </a:rPr>
              <a:t>Platform Based Design Group</a:t>
            </a:r>
            <a:endParaRPr kumimoji="0" lang="zh-TW" altLang="en-US" sz="1600" b="1" i="0" dirty="0">
              <a:ln w="12700">
                <a:noFill/>
                <a:prstDash val="solid"/>
              </a:ln>
              <a:solidFill>
                <a:schemeClr val="accent5">
                  <a:lumMod val="50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  <a:reflection blurRad="6350" stA="60000" endA="900" endPos="58000" dir="5400000" sy="-100000" algn="bl" rotWithShape="0"/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988844" y="654844"/>
            <a:ext cx="214312" cy="1219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b="1" spc="300" dirty="0">
                <a:latin typeface="Arial" pitchFamily="34" charset="0"/>
                <a:cs typeface="Arial" pitchFamily="34" charset="0"/>
              </a:rPr>
              <a:t>NCTU.EE</a:t>
            </a:r>
            <a:r>
              <a:rPr kumimoji="0" lang="en-US" altLang="zh-TW" sz="1200" b="1" dirty="0">
                <a:latin typeface="Arial" pitchFamily="34" charset="0"/>
                <a:cs typeface="Arial" pitchFamily="34" charset="0"/>
              </a:rPr>
              <a:t>, </a:t>
            </a:r>
            <a:r>
              <a:rPr kumimoji="0" lang="en-US" altLang="zh-TW" sz="1200" b="1" dirty="0" err="1">
                <a:latin typeface="Arial" pitchFamily="34" charset="0"/>
                <a:cs typeface="Arial" pitchFamily="34" charset="0"/>
              </a:rPr>
              <a:t>Hsinchu</a:t>
            </a:r>
            <a:r>
              <a:rPr kumimoji="0" lang="en-US" altLang="zh-TW" sz="1200" b="1" dirty="0">
                <a:latin typeface="Arial" pitchFamily="34" charset="0"/>
                <a:cs typeface="Arial" pitchFamily="34" charset="0"/>
              </a:rPr>
              <a:t>, Taiwan</a:t>
            </a:r>
            <a:endParaRPr kumimoji="0" lang="zh-TW" altLang="en-US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" y="1500188"/>
            <a:ext cx="285751" cy="5357812"/>
          </a:xfrm>
          <a:prstGeom prst="rect">
            <a:avLst/>
          </a:prstGeom>
          <a:gradFill flip="none" rotWithShape="1">
            <a:gsLst>
              <a:gs pos="56000">
                <a:srgbClr val="92D050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tIns="3024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200" dirty="0">
                <a:latin typeface="Arial" pitchFamily="34" charset="0"/>
                <a:cs typeface="Arial" pitchFamily="34" charset="0"/>
              </a:rPr>
              <a:t>VLSI Signal Processing Lab.</a:t>
            </a:r>
            <a:endParaRPr kumimoji="0" lang="zh-TW" altLang="en-US" sz="1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71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accent3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8.0026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399" y="2130426"/>
            <a:ext cx="11172305" cy="1470025"/>
          </a:xfrm>
        </p:spPr>
        <p:txBody>
          <a:bodyPr/>
          <a:lstStyle/>
          <a:p>
            <a:pPr algn="ctr"/>
            <a:r>
              <a:rPr lang="en-US" altLang="zh-TW" dirty="0"/>
              <a:t>DL 2025 Final Project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387012" y="3904861"/>
            <a:ext cx="5417976" cy="583163"/>
          </a:xfrm>
        </p:spPr>
        <p:txBody>
          <a:bodyPr>
            <a:normAutofit/>
          </a:bodyPr>
          <a:lstStyle/>
          <a:p>
            <a:pPr algn="ctr"/>
            <a:r>
              <a:rPr lang="en-US" altLang="zh-TW" sz="2000" dirty="0"/>
              <a:t>313513029 </a:t>
            </a:r>
            <a:r>
              <a:rPr lang="zh-TW" altLang="en-US" sz="2000" dirty="0"/>
              <a:t>陳致融</a:t>
            </a:r>
          </a:p>
        </p:txBody>
      </p:sp>
    </p:spTree>
    <p:extLst>
      <p:ext uri="{BB962C8B-B14F-4D97-AF65-F5344CB8AC3E}">
        <p14:creationId xmlns:p14="http://schemas.microsoft.com/office/powerpoint/2010/main" val="854901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Topic : Implement a paper and apply it to different scenario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071547"/>
            <a:ext cx="10972800" cy="5082118"/>
          </a:xfrm>
        </p:spPr>
        <p:txBody>
          <a:bodyPr>
            <a:normAutofit/>
          </a:bodyPr>
          <a:lstStyle/>
          <a:p>
            <a:r>
              <a:rPr lang="en-US" altLang="zh-TW" dirty="0"/>
              <a:t>Which topic did you choose? </a:t>
            </a:r>
          </a:p>
          <a:p>
            <a:pPr marL="0" indent="0">
              <a:buNone/>
            </a:pPr>
            <a:r>
              <a:rPr lang="zh-TW" altLang="en-US" sz="2400" dirty="0"/>
              <a:t>      </a:t>
            </a:r>
            <a:r>
              <a:rPr lang="zh-TW" altLang="en-US" sz="2000" dirty="0"/>
              <a:t>深度學習在 </a:t>
            </a:r>
            <a:r>
              <a:rPr lang="en-US" altLang="zh-TW" sz="2000" dirty="0"/>
              <a:t>OFDM</a:t>
            </a:r>
            <a:r>
              <a:rPr lang="zh-TW" altLang="en-US" sz="2000" dirty="0"/>
              <a:t> </a:t>
            </a:r>
            <a:r>
              <a:rPr lang="en-US" altLang="zh-TW" sz="2000" dirty="0"/>
              <a:t>or MIMO-OFDM </a:t>
            </a:r>
            <a:r>
              <a:rPr lang="zh-TW" altLang="en-US" sz="2000" dirty="0"/>
              <a:t>系統中的通道估計 </a:t>
            </a:r>
            <a:r>
              <a:rPr lang="en-US" altLang="zh-TW" sz="2000" dirty="0"/>
              <a:t>(</a:t>
            </a:r>
            <a:r>
              <a:rPr lang="zh-TW" altLang="en-US" sz="2000" dirty="0"/>
              <a:t>利用跨領域的 </a:t>
            </a:r>
            <a:r>
              <a:rPr lang="en-US" altLang="zh-TW" sz="2000" dirty="0"/>
              <a:t>U-Net </a:t>
            </a:r>
            <a:r>
              <a:rPr lang="zh-TW" altLang="en-US" sz="2000" dirty="0"/>
              <a:t>結構</a:t>
            </a:r>
            <a:r>
              <a:rPr lang="en-US" altLang="zh-TW" sz="2000" dirty="0"/>
              <a:t>)</a:t>
            </a:r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457200" lvl="1" indent="0">
              <a:buNone/>
            </a:pPr>
            <a:endParaRPr lang="en-US" altLang="zh-TW" sz="25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0589242-F09A-2788-D80F-D41F314887DB}"/>
              </a:ext>
            </a:extLst>
          </p:cNvPr>
          <p:cNvSpPr txBox="1"/>
          <p:nvPr/>
        </p:nvSpPr>
        <p:spPr>
          <a:xfrm>
            <a:off x="609600" y="2088572"/>
            <a:ext cx="11825415" cy="2040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Which papers did you choose?</a:t>
            </a:r>
          </a:p>
          <a:p>
            <a:pPr>
              <a:lnSpc>
                <a:spcPct val="150000"/>
              </a:lnSpc>
            </a:pPr>
            <a:r>
              <a:rPr lang="en-US" altLang="zh-TW" sz="2200" dirty="0"/>
              <a:t> ---</a:t>
            </a:r>
            <a:r>
              <a:rPr lang="zh-TW" altLang="en-US" sz="2200" dirty="0"/>
              <a:t> </a:t>
            </a:r>
            <a:r>
              <a:rPr lang="en-US" altLang="zh-TW" sz="2200" dirty="0"/>
              <a:t>DCCRN</a:t>
            </a:r>
            <a:r>
              <a:rPr lang="zh-TW" altLang="en-US" sz="2200" dirty="0"/>
              <a:t> </a:t>
            </a:r>
            <a:r>
              <a:rPr lang="en-US" altLang="zh-TW" sz="2200" dirty="0"/>
              <a:t>:</a:t>
            </a:r>
            <a:r>
              <a:rPr lang="zh-TW" altLang="en-US" sz="2200" dirty="0"/>
              <a:t> </a:t>
            </a:r>
            <a:r>
              <a:rPr lang="en-US" altLang="zh-TW" sz="2200" dirty="0"/>
              <a:t>Deep Complex Convolution Recurrent Network for Phase-Aware Speech Enhancement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b="1" dirty="0"/>
              <a:t>       </a:t>
            </a:r>
            <a:r>
              <a:rPr lang="zh-TW" altLang="en-US" sz="2000" dirty="0"/>
              <a:t>會議 </a:t>
            </a:r>
            <a:r>
              <a:rPr lang="en-US" altLang="zh-TW" sz="2000" dirty="0"/>
              <a:t>/</a:t>
            </a:r>
            <a:r>
              <a:rPr lang="zh-TW" altLang="en-US" sz="2000" dirty="0"/>
              <a:t> 年分</a:t>
            </a:r>
            <a:r>
              <a:rPr lang="zh-TW" altLang="en-US" sz="2200" dirty="0"/>
              <a:t>： </a:t>
            </a:r>
            <a:r>
              <a:rPr lang="en-US" altLang="zh-TW" sz="2200" dirty="0"/>
              <a:t>INTERSPEECH 2020</a:t>
            </a:r>
          </a:p>
          <a:p>
            <a:pPr>
              <a:lnSpc>
                <a:spcPct val="150000"/>
              </a:lnSpc>
            </a:pPr>
            <a:r>
              <a:rPr lang="zh-TW" altLang="en-US" sz="2200" dirty="0"/>
              <a:t> </a:t>
            </a:r>
            <a:r>
              <a:rPr lang="en-US" altLang="zh-TW" sz="2200" dirty="0">
                <a:solidFill>
                  <a:srgbClr val="0070C0"/>
                </a:solidFill>
              </a:rPr>
              <a:t>---</a:t>
            </a:r>
            <a:r>
              <a:rPr lang="zh-TW" altLang="en-US" sz="2200" dirty="0"/>
              <a:t> </a:t>
            </a:r>
            <a:r>
              <a:rPr lang="en-US" altLang="zh-TW" sz="2200" dirty="0">
                <a:hlinkClick r:id="rId2"/>
              </a:rPr>
              <a:t>https://arxiv.org/abs/2008.00264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145124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E688-F2CF-4642-3946-27A46425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ABD4BE-53B1-39F0-48E6-FBD7CBA8C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What is the paper about?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CA1FA4-0759-55C3-02ED-3075C9E9C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46833"/>
            <a:ext cx="10972800" cy="508211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TW" altLang="en-US" sz="2400" dirty="0"/>
              <a:t>架構 </a:t>
            </a:r>
            <a:r>
              <a:rPr lang="en-US" altLang="zh-TW" sz="2400" dirty="0"/>
              <a:t>:</a:t>
            </a:r>
            <a:r>
              <a:rPr lang="zh-TW" altLang="en-US" sz="2400" dirty="0"/>
              <a:t> 論文提出一個基於複數卷積 </a:t>
            </a:r>
            <a:r>
              <a:rPr lang="en-US" altLang="zh-TW" sz="2400" dirty="0"/>
              <a:t>(Complex CNN) </a:t>
            </a:r>
            <a:r>
              <a:rPr lang="zh-TW" altLang="en-US" sz="2400" dirty="0"/>
              <a:t>和 </a:t>
            </a:r>
            <a:r>
              <a:rPr lang="en-US" altLang="zh-TW" sz="2400" dirty="0"/>
              <a:t>U-Net </a:t>
            </a:r>
            <a:r>
              <a:rPr lang="zh-TW" altLang="en-US" sz="2400" dirty="0"/>
              <a:t>結構的語音增強模型。</a:t>
            </a:r>
          </a:p>
          <a:p>
            <a:pPr>
              <a:lnSpc>
                <a:spcPct val="200000"/>
              </a:lnSpc>
            </a:pPr>
            <a:r>
              <a:rPr lang="zh-TW" altLang="en-US" sz="2400" dirty="0"/>
              <a:t>輸入訊號</a:t>
            </a:r>
            <a:r>
              <a:rPr lang="en-US" altLang="zh-TW" sz="2400" dirty="0"/>
              <a:t> :</a:t>
            </a:r>
            <a:r>
              <a:rPr lang="zh-TW" altLang="en-US" sz="2400" dirty="0"/>
              <a:t> 含噪語音的</a:t>
            </a:r>
            <a:r>
              <a:rPr lang="zh-TW" altLang="en-US" sz="2400" b="1" dirty="0"/>
              <a:t>複數頻譜</a:t>
            </a:r>
            <a:endParaRPr lang="en-US" altLang="zh-TW" sz="2400" b="1" dirty="0"/>
          </a:p>
          <a:p>
            <a:pPr>
              <a:lnSpc>
                <a:spcPct val="200000"/>
              </a:lnSpc>
            </a:pPr>
            <a:r>
              <a:rPr lang="zh-TW" altLang="en-US" sz="2400" dirty="0"/>
              <a:t>利用 </a:t>
            </a:r>
            <a:r>
              <a:rPr lang="en-US" altLang="zh-TW" sz="2400" dirty="0"/>
              <a:t>U-Net</a:t>
            </a:r>
            <a:r>
              <a:rPr lang="zh-TW" altLang="en-US" sz="2400" dirty="0"/>
              <a:t> 的跳躍連接捕捉細節，並結合 </a:t>
            </a:r>
            <a:r>
              <a:rPr lang="en-US" altLang="zh-TW" sz="2400" dirty="0"/>
              <a:t>LSTM</a:t>
            </a:r>
            <a:r>
              <a:rPr lang="zh-TW" altLang="en-US" sz="2400" dirty="0"/>
              <a:t> 捕捉時間序列特性</a:t>
            </a:r>
            <a:endParaRPr lang="en-US" altLang="zh-TW" sz="2400" dirty="0"/>
          </a:p>
          <a:p>
            <a:pPr>
              <a:lnSpc>
                <a:spcPct val="200000"/>
              </a:lnSpc>
            </a:pPr>
            <a:r>
              <a:rPr lang="zh-TW" altLang="en-US" sz="2400" dirty="0"/>
              <a:t>同時優化訊號的</a:t>
            </a:r>
            <a:r>
              <a:rPr lang="zh-TW" altLang="en-US" sz="2400" b="1" dirty="0"/>
              <a:t>幅度</a:t>
            </a:r>
            <a:r>
              <a:rPr lang="zh-TW" altLang="en-US" sz="2400" dirty="0"/>
              <a:t>和</a:t>
            </a:r>
            <a:r>
              <a:rPr lang="zh-TW" altLang="en-US" sz="2400" b="1" dirty="0"/>
              <a:t>相位</a:t>
            </a:r>
            <a:r>
              <a:rPr lang="zh-TW" altLang="en-US" sz="2400" dirty="0"/>
              <a:t>，實現優異的語音降噪效果。</a:t>
            </a:r>
            <a:endParaRPr lang="en-US" altLang="zh-TW" sz="2400" dirty="0"/>
          </a:p>
          <a:p>
            <a:pPr>
              <a:lnSpc>
                <a:spcPct val="150000"/>
              </a:lnSpc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457200" lvl="1" indent="0">
              <a:buNone/>
            </a:pPr>
            <a:endParaRPr lang="en-US" altLang="zh-TW" sz="2500" dirty="0"/>
          </a:p>
        </p:txBody>
      </p:sp>
    </p:spTree>
    <p:extLst>
      <p:ext uri="{BB962C8B-B14F-4D97-AF65-F5344CB8AC3E}">
        <p14:creationId xmlns:p14="http://schemas.microsoft.com/office/powerpoint/2010/main" val="1892922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7716-FDA2-D9DB-D08C-97910DB9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F71A04-175C-A3AE-1117-764E170F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What should I do ?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F15A947-A532-A023-7855-EDD489555D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46833"/>
                <a:ext cx="10972800" cy="4946194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TW" altLang="en-US" sz="2000" dirty="0"/>
                  <a:t>應用： 將此論文的語音增強模型框架的結構 </a:t>
                </a:r>
                <a:r>
                  <a:rPr lang="en-US" altLang="zh-TW" sz="2000" dirty="0"/>
                  <a:t>(DCCRN) </a:t>
                </a:r>
                <a:r>
                  <a:rPr lang="zh-TW" altLang="en-US" sz="2000" dirty="0"/>
                  <a:t>轉移至 </a:t>
                </a:r>
                <a:r>
                  <a:rPr lang="en-US" altLang="zh-TW" sz="2000" dirty="0"/>
                  <a:t>MIMO-OFDM</a:t>
                </a:r>
                <a:r>
                  <a:rPr lang="zh-TW" altLang="en-US" sz="2000" dirty="0"/>
                  <a:t> 做通道估計去噪任務</a:t>
                </a:r>
                <a:endParaRPr lang="en-US" altLang="zh-TW" sz="2000" dirty="0"/>
              </a:p>
              <a:p>
                <a:pPr>
                  <a:lnSpc>
                    <a:spcPct val="200000"/>
                  </a:lnSpc>
                </a:pPr>
                <a:r>
                  <a:rPr lang="en-US" altLang="zh-TW" sz="2000" dirty="0"/>
                  <a:t>1. </a:t>
                </a:r>
                <a:r>
                  <a:rPr lang="zh-TW" altLang="en-US" sz="2000" dirty="0"/>
                  <a:t>訊號轉換：</a:t>
                </a:r>
                <a:r>
                  <a:rPr lang="en-US" altLang="zh-TW" sz="2000" dirty="0"/>
                  <a:t>MIMO-OFDM</a:t>
                </a:r>
                <a:r>
                  <a:rPr lang="zh-TW" altLang="en-US" sz="2000" dirty="0"/>
                  <a:t> 的含噪音 </a:t>
                </a:r>
                <a:r>
                  <a:rPr lang="en-US" altLang="zh-TW" sz="2000" dirty="0"/>
                  <a:t>LS</a:t>
                </a:r>
                <a:r>
                  <a:rPr lang="zh-TW" altLang="en-US" sz="2000" dirty="0"/>
                  <a:t> 通道估計矩陣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視為輸入複數特徵圖，其複數形式與語音的複數頻譜圖具有相似的時</a:t>
                </a:r>
                <a:r>
                  <a:rPr lang="en-US" altLang="zh-TW" sz="2000" dirty="0"/>
                  <a:t>/</a:t>
                </a:r>
                <a:r>
                  <a:rPr lang="zh-TW" altLang="en-US" sz="2000" dirty="0"/>
                  <a:t>頻相關性。</a:t>
                </a:r>
                <a:endParaRPr lang="en-US" altLang="zh-TW" sz="2000" dirty="0"/>
              </a:p>
              <a:p>
                <a:pPr>
                  <a:lnSpc>
                    <a:spcPct val="200000"/>
                  </a:lnSpc>
                </a:pPr>
                <a:r>
                  <a:rPr lang="en-US" altLang="zh-TW" sz="2000" dirty="0"/>
                  <a:t>2. </a:t>
                </a:r>
                <a:r>
                  <a:rPr lang="zh-TW" altLang="en-US" sz="2000" dirty="0"/>
                  <a:t>網路調整： 採用 </a:t>
                </a:r>
                <a:r>
                  <a:rPr lang="en-US" altLang="zh-TW" sz="2000" dirty="0"/>
                  <a:t>DCCRN </a:t>
                </a:r>
                <a:r>
                  <a:rPr lang="zh-TW" altLang="en-US" sz="2000" dirty="0"/>
                  <a:t>結構來學習從含噪通道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000" dirty="0"/>
                  <a:t>映射到純淨通道 </a:t>
                </a:r>
                <a:r>
                  <a:rPr lang="en-US" altLang="zh-TW" sz="2000" dirty="0"/>
                  <a:t>H </a:t>
                </a:r>
                <a:r>
                  <a:rPr lang="zh-TW" altLang="en-US" sz="2000" dirty="0"/>
                  <a:t>的複雜非線性關係。移除或簡化 </a:t>
                </a:r>
                <a:r>
                  <a:rPr lang="en-US" altLang="zh-TW" sz="2000" dirty="0"/>
                  <a:t>DCCRN </a:t>
                </a:r>
                <a:r>
                  <a:rPr lang="zh-TW" altLang="en-US" sz="2000" dirty="0"/>
                  <a:t>中的 </a:t>
                </a:r>
                <a:r>
                  <a:rPr lang="en-US" altLang="zh-TW" sz="2000" dirty="0"/>
                  <a:t>LSTM</a:t>
                </a:r>
                <a:r>
                  <a:rPr lang="zh-TW" altLang="en-US" sz="2000" dirty="0"/>
                  <a:t> 部份（如果信道變化不快，時域相關性較弱），將重點放在 </a:t>
                </a:r>
                <a:r>
                  <a:rPr lang="en-US" altLang="zh-TW" sz="2000" dirty="0"/>
                  <a:t>U-Net </a:t>
                </a:r>
                <a:r>
                  <a:rPr lang="zh-TW" altLang="en-US" sz="2000" dirty="0"/>
                  <a:t>的去噪能力上。</a:t>
                </a:r>
                <a:endParaRPr lang="en-US" altLang="zh-TW" sz="2000" dirty="0"/>
              </a:p>
              <a:p>
                <a:pPr>
                  <a:lnSpc>
                    <a:spcPct val="200000"/>
                  </a:lnSpc>
                </a:pPr>
                <a:r>
                  <a:rPr lang="en-US" altLang="zh-TW" sz="2000" dirty="0"/>
                  <a:t>3. </a:t>
                </a:r>
                <a:r>
                  <a:rPr lang="zh-TW" altLang="en-US" sz="2000" dirty="0"/>
                  <a:t>性能評估： 證明基於 </a:t>
                </a:r>
                <a:r>
                  <a:rPr lang="en-US" altLang="zh-TW" sz="2000" dirty="0"/>
                  <a:t>DCCRN </a:t>
                </a:r>
                <a:r>
                  <a:rPr lang="zh-TW" altLang="en-US" sz="2000" dirty="0"/>
                  <a:t>結構網路，在低 </a:t>
                </a:r>
                <a:r>
                  <a:rPr lang="en-US" altLang="zh-TW" sz="2000" dirty="0"/>
                  <a:t>SNR </a:t>
                </a:r>
                <a:r>
                  <a:rPr lang="zh-TW" altLang="en-US" sz="2000" dirty="0"/>
                  <a:t>和都普勒頻移 </a:t>
                </a:r>
                <a:r>
                  <a:rPr lang="en-US" altLang="zh-TW" sz="2000" dirty="0"/>
                  <a:t>(Doppler Shift)</a:t>
                </a:r>
                <a:r>
                  <a:rPr lang="zh-TW" altLang="en-US" sz="2000" dirty="0"/>
                  <a:t> 影響下，能實現比 </a:t>
                </a:r>
                <a:r>
                  <a:rPr lang="en-US" altLang="zh-TW" sz="2000" dirty="0"/>
                  <a:t>LS</a:t>
                </a:r>
                <a:r>
                  <a:rPr lang="zh-TW" altLang="en-US" sz="2000" dirty="0"/>
                  <a:t>、</a:t>
                </a:r>
                <a:r>
                  <a:rPr lang="en-US" altLang="zh-TW" sz="2000" dirty="0"/>
                  <a:t>LMMSE</a:t>
                </a:r>
                <a:r>
                  <a:rPr lang="zh-TW" altLang="en-US" sz="2000" dirty="0"/>
                  <a:t> 更好的 </a:t>
                </a:r>
                <a:r>
                  <a:rPr lang="en-US" altLang="zh-TW" sz="2000" dirty="0"/>
                  <a:t>MSE</a:t>
                </a:r>
                <a:r>
                  <a:rPr lang="zh-TW" altLang="en-US" sz="2000" dirty="0"/>
                  <a:t> 和 </a:t>
                </a:r>
                <a:r>
                  <a:rPr lang="en-US" altLang="zh-TW" sz="2000" dirty="0"/>
                  <a:t>BER</a:t>
                </a:r>
                <a:r>
                  <a:rPr lang="zh-TW" altLang="en-US" sz="2000" dirty="0"/>
                  <a:t> 性能。</a:t>
                </a:r>
                <a:endParaRPr lang="en-US" altLang="zh-TW" sz="2000" dirty="0"/>
              </a:p>
              <a:p>
                <a:pPr>
                  <a:lnSpc>
                    <a:spcPct val="150000"/>
                  </a:lnSpc>
                </a:pPr>
                <a:endParaRPr lang="en-US" altLang="zh-TW" sz="1800" dirty="0"/>
              </a:p>
              <a:p>
                <a:pPr>
                  <a:lnSpc>
                    <a:spcPct val="200000"/>
                  </a:lnSpc>
                </a:pPr>
                <a:endParaRPr lang="en-US" altLang="zh-TW" sz="2000" dirty="0"/>
              </a:p>
              <a:p>
                <a:pPr marL="0" indent="0">
                  <a:buNone/>
                </a:pPr>
                <a:endParaRPr lang="en-US" altLang="zh-TW" sz="900" dirty="0"/>
              </a:p>
              <a:p>
                <a:pPr marL="0" indent="0">
                  <a:buNone/>
                </a:pPr>
                <a:endParaRPr lang="en-US" altLang="zh-TW" sz="900" dirty="0"/>
              </a:p>
              <a:p>
                <a:pPr marL="0" indent="0">
                  <a:buNone/>
                </a:pPr>
                <a:endParaRPr lang="en-US" altLang="zh-TW" sz="900" dirty="0"/>
              </a:p>
              <a:p>
                <a:pPr marL="0" indent="0">
                  <a:buNone/>
                </a:pPr>
                <a:endParaRPr lang="en-US" altLang="zh-TW" sz="900" dirty="0"/>
              </a:p>
              <a:p>
                <a:pPr marL="0" indent="0">
                  <a:buNone/>
                </a:pPr>
                <a:endParaRPr lang="en-US" altLang="zh-TW" sz="900" dirty="0"/>
              </a:p>
              <a:p>
                <a:pPr marL="457200" lvl="1" indent="0">
                  <a:buNone/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F15A947-A532-A023-7855-EDD489555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46833"/>
                <a:ext cx="10972800" cy="4946194"/>
              </a:xfrm>
              <a:blipFill>
                <a:blip r:embed="rId2"/>
                <a:stretch>
                  <a:fillRect l="-500" r="-556" b="-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7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Dataset – By myself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599" y="1574009"/>
                <a:ext cx="11049001" cy="4794134"/>
              </a:xfrm>
            </p:spPr>
            <p:txBody>
              <a:bodyPr>
                <a:normAutofit fontScale="325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zh-TW" altLang="en-US" sz="7200" dirty="0"/>
                  <a:t>通訊系統模擬： 使用 </a:t>
                </a:r>
                <a:r>
                  <a:rPr lang="en-US" altLang="zh-TW" sz="7200" dirty="0"/>
                  <a:t>Python</a:t>
                </a:r>
                <a:r>
                  <a:rPr lang="zh-TW" altLang="en-US" sz="7200" dirty="0"/>
                  <a:t> 的 </a:t>
                </a:r>
                <a:r>
                  <a:rPr lang="en-US" altLang="zh-TW" sz="7200" dirty="0"/>
                  <a:t>PyTorch </a:t>
                </a:r>
                <a:r>
                  <a:rPr lang="zh-TW" altLang="en-US" sz="7200" dirty="0"/>
                  <a:t>或 </a:t>
                </a:r>
                <a:r>
                  <a:rPr lang="en-US" altLang="zh-TW" sz="7200" dirty="0"/>
                  <a:t>TensorFlow </a:t>
                </a:r>
                <a:r>
                  <a:rPr lang="zh-TW" altLang="en-US" sz="7200" dirty="0"/>
                  <a:t>模擬一個 </a:t>
                </a:r>
                <a:r>
                  <a:rPr lang="en-US" altLang="zh-TW" sz="7200" dirty="0"/>
                  <a:t>2</a:t>
                </a:r>
                <a:r>
                  <a:rPr lang="zh-TW" altLang="en-US" sz="7200" dirty="0"/>
                  <a:t>*</a:t>
                </a:r>
                <a:r>
                  <a:rPr lang="en-US" altLang="zh-TW" sz="7200" dirty="0"/>
                  <a:t>2</a:t>
                </a:r>
                <a:r>
                  <a:rPr lang="zh-TW" altLang="en-US" sz="7200" dirty="0"/>
                  <a:t> 或 </a:t>
                </a:r>
                <a:r>
                  <a:rPr lang="en-US" altLang="zh-TW" sz="7200" dirty="0"/>
                  <a:t>4</a:t>
                </a:r>
                <a:r>
                  <a:rPr lang="zh-TW" altLang="en-US" sz="7200" dirty="0"/>
                  <a:t>*</a:t>
                </a:r>
                <a:r>
                  <a:rPr lang="en-US" altLang="zh-TW" sz="7200" dirty="0"/>
                  <a:t>4</a:t>
                </a:r>
                <a:r>
                  <a:rPr lang="zh-TW" altLang="en-US" sz="7200" dirty="0"/>
                  <a:t> 的 </a:t>
                </a:r>
                <a:r>
                  <a:rPr lang="en-US" altLang="zh-TW" sz="7200" dirty="0"/>
                  <a:t>MIMO-OFDM</a:t>
                </a:r>
                <a:r>
                  <a:rPr lang="zh-TW" altLang="en-US" sz="7200" dirty="0"/>
                  <a:t> 系統。</a:t>
                </a:r>
                <a:endParaRPr lang="en-US" altLang="zh-TW" sz="7200" dirty="0"/>
              </a:p>
              <a:p>
                <a:pPr>
                  <a:lnSpc>
                    <a:spcPct val="170000"/>
                  </a:lnSpc>
                </a:pPr>
                <a:endParaRPr lang="en-US" altLang="zh-TW" sz="7200" dirty="0"/>
              </a:p>
              <a:p>
                <a:pPr>
                  <a:lnSpc>
                    <a:spcPct val="170000"/>
                  </a:lnSpc>
                </a:pPr>
                <a:r>
                  <a:rPr lang="zh-TW" altLang="en-US" sz="7200" dirty="0"/>
                  <a:t>通道模型： 採用 </a:t>
                </a:r>
                <a:r>
                  <a:rPr lang="en-US" altLang="zh-TW" sz="7200" dirty="0"/>
                  <a:t>3GPP</a:t>
                </a:r>
                <a:r>
                  <a:rPr lang="zh-TW" altLang="en-US" sz="7200" dirty="0"/>
                  <a:t> 標準的時延擴散 </a:t>
                </a:r>
                <a:r>
                  <a:rPr lang="en-US" altLang="zh-TW" sz="7200" dirty="0"/>
                  <a:t>(Time Delay Spread) </a:t>
                </a:r>
                <a:r>
                  <a:rPr lang="zh-TW" altLang="en-US" sz="7200" dirty="0"/>
                  <a:t>和都普勒頻移 </a:t>
                </a:r>
                <a:r>
                  <a:rPr lang="en-US" altLang="zh-TW" sz="7200" dirty="0"/>
                  <a:t>(Doppler Shift) </a:t>
                </a:r>
                <a:r>
                  <a:rPr lang="zh-TW" altLang="en-US" sz="7200" dirty="0"/>
                  <a:t>特性，例如 </a:t>
                </a:r>
                <a:r>
                  <a:rPr lang="en-US" altLang="zh-TW" sz="7200" dirty="0"/>
                  <a:t>TDL</a:t>
                </a:r>
                <a:r>
                  <a:rPr lang="zh-TW" altLang="en-US" sz="7200" dirty="0"/>
                  <a:t> </a:t>
                </a:r>
                <a:r>
                  <a:rPr lang="en-US" altLang="zh-TW" sz="7200" dirty="0"/>
                  <a:t>C</a:t>
                </a:r>
                <a:r>
                  <a:rPr lang="zh-TW" altLang="en-US" sz="7200" dirty="0"/>
                  <a:t> 或 </a:t>
                </a:r>
                <a:r>
                  <a:rPr lang="en-US" altLang="zh-TW" sz="7200" dirty="0"/>
                  <a:t>Vehicular A/B</a:t>
                </a:r>
                <a:r>
                  <a:rPr lang="zh-TW" altLang="en-US" sz="7200" dirty="0"/>
                  <a:t> 模型，以模擬複雜且動態的衰落環境。</a:t>
                </a:r>
                <a:endParaRPr lang="en-US" altLang="zh-TW" sz="7200" dirty="0"/>
              </a:p>
              <a:p>
                <a:pPr>
                  <a:lnSpc>
                    <a:spcPct val="170000"/>
                  </a:lnSpc>
                </a:pPr>
                <a:endParaRPr lang="en-US" altLang="zh-TW" sz="7200" dirty="0"/>
              </a:p>
              <a:p>
                <a:pPr>
                  <a:lnSpc>
                    <a:spcPct val="170000"/>
                  </a:lnSpc>
                </a:pPr>
                <a:r>
                  <a:rPr lang="zh-TW" altLang="en-US" sz="7200" dirty="0"/>
                  <a:t>數據生成： 生成大量的通道估計矩陣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7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72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altLang="zh-TW" sz="7200" dirty="0"/>
                  <a:t> ,</a:t>
                </a:r>
                <a:r>
                  <a:rPr lang="zh-TW" altLang="en-US" sz="7200" dirty="0"/>
                  <a:t> 純淨通道 </a:t>
                </a:r>
                <a:r>
                  <a:rPr lang="en-US" altLang="zh-TW" sz="7200" dirty="0"/>
                  <a:t>H</a:t>
                </a:r>
                <a:r>
                  <a:rPr lang="zh-TW" altLang="en-US" sz="7200" dirty="0"/>
                  <a:t> 數據對。</a:t>
                </a:r>
                <a:endParaRPr lang="en-US" altLang="zh-TW" sz="7200" dirty="0"/>
              </a:p>
              <a:p>
                <a:pPr lvl="1"/>
                <a:endParaRPr lang="en-US" sz="3200" dirty="0"/>
              </a:p>
              <a:p>
                <a:pPr lvl="2"/>
                <a:endParaRPr lang="en-US" sz="2800" dirty="0"/>
              </a:p>
              <a:p>
                <a:pPr lvl="1"/>
                <a:endParaRPr lang="en-US" altLang="zh-TW" sz="3200" dirty="0"/>
              </a:p>
              <a:p>
                <a:pPr lvl="1"/>
                <a:endParaRPr lang="en-US" altLang="zh-TW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599" y="1574009"/>
                <a:ext cx="11049001" cy="4794134"/>
              </a:xfrm>
              <a:blipFill>
                <a:blip r:embed="rId2"/>
                <a:stretch>
                  <a:fillRect l="-6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6403711"/>
      </p:ext>
    </p:extLst>
  </p:cSld>
  <p:clrMapOvr>
    <a:masterClrMapping/>
  </p:clrMapOvr>
</p:sld>
</file>

<file path=ppt/theme/theme1.xml><?xml version="1.0" encoding="utf-8"?>
<a:theme xmlns:a="http://schemas.openxmlformats.org/drawingml/2006/main" name="VSPLA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SPLAB" id="{F34EB94F-81E7-4ADA-BD89-2C43C2D8F270}" vid="{D28B7296-50B2-4F66-97FD-3F163D61EBE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VSPLAB</Template>
  <TotalTime>21237</TotalTime>
  <Words>405</Words>
  <Application>Microsoft Office PowerPoint</Application>
  <PresentationFormat>寬螢幕</PresentationFormat>
  <Paragraphs>43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VSPLAB</vt:lpstr>
      <vt:lpstr>DL 2025 Final Project</vt:lpstr>
      <vt:lpstr>Topic : Implement a paper and apply it to different scenario</vt:lpstr>
      <vt:lpstr>What is the paper about?</vt:lpstr>
      <vt:lpstr>What should I do ?</vt:lpstr>
      <vt:lpstr>Dataset – By myself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Connectivity Pattern Modeling of Motor Imagery EEG</dc:title>
  <dc:creator>Awei</dc:creator>
  <cp:lastModifiedBy>陳致融</cp:lastModifiedBy>
  <cp:revision>260</cp:revision>
  <dcterms:created xsi:type="dcterms:W3CDTF">2015-04-09T17:52:42Z</dcterms:created>
  <dcterms:modified xsi:type="dcterms:W3CDTF">2025-12-24T07:31:03Z</dcterms:modified>
</cp:coreProperties>
</file>